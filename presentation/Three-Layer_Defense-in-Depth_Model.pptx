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91378F-7719-466B-93E4-6EF9DF27EFD3}" v="1" dt="2026-07-14T01:59:41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杉原 優斗 (Sugihara Yuto)" userId="14c4c94e-90b2-4751-a3c2-726bd8604f6a" providerId="ADAL" clId="{400BE257-5988-4872-8F14-02B7D974003C}"/>
    <pc:docChg chg="custSel modSld">
      <pc:chgData name="杉原 優斗 (Sugihara Yuto)" userId="14c4c94e-90b2-4751-a3c2-726bd8604f6a" providerId="ADAL" clId="{400BE257-5988-4872-8F14-02B7D974003C}" dt="2026-07-14T01:59:49.606" v="1" actId="478"/>
      <pc:docMkLst>
        <pc:docMk/>
      </pc:docMkLst>
      <pc:sldChg chg="delSp modSp mod">
        <pc:chgData name="杉原 優斗 (Sugihara Yuto)" userId="14c4c94e-90b2-4751-a3c2-726bd8604f6a" providerId="ADAL" clId="{400BE257-5988-4872-8F14-02B7D974003C}" dt="2026-07-14T01:59:49.606" v="1" actId="478"/>
        <pc:sldMkLst>
          <pc:docMk/>
          <pc:sldMk cId="0" sldId="269"/>
        </pc:sldMkLst>
        <pc:spChg chg="del mod">
          <ac:chgData name="杉原 優斗 (Sugihara Yuto)" userId="14c4c94e-90b2-4751-a3c2-726bd8604f6a" providerId="ADAL" clId="{400BE257-5988-4872-8F14-02B7D974003C}" dt="2026-07-14T01:59:49.606" v="1" actId="478"/>
          <ac:spMkLst>
            <pc:docMk/>
            <pc:sldMk cId="0" sldId="26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</a:defRPr>
            </a:pPr>
            <a:r>
              <a:t>Governing Enterprise AI:</a:t>
            </a:r>
            <a:br/>
            <a:r>
              <a:t>A Three-Layer Defense-in-Depth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Balancing AI Productivity with Security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Yuto Sugihara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Security Engineer at F-TECH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The Challenge: AI in the Enterprise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7295" cy="73152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 rapid adoption of AI in the workplace has created a governance dilemma for security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AI adoption has outpaced security protocols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Employees use AI to develop code, access sensitive data, investigate systems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Shadow AI: Unauthorized tools operating outside company control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Ban AI entirely? → Negates productivity benefits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Leave AI ungoverned? → Data leakage, toxic content, exploitation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Core Question: How can IT/Security teams monitor AI use without removing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The Solution: Defense-in-Depth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640080"/>
          </a:xfrm>
          <a:prstGeom prst="roundRect">
            <a:avLst/>
          </a:prstGeom>
          <a:solidFill>
            <a:srgbClr val="1E3A5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Key Insight: No single control is sufficient. Good governance requires multiple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20240"/>
            <a:ext cx="8534095" cy="1188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2011680"/>
            <a:ext cx="816833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Layer 1: Organizational Policy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Defines what is and isn't allowed  |  NIST AI RMF  |  OECD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1089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474720"/>
            <a:ext cx="8534095" cy="1188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3566160"/>
            <a:ext cx="816833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Layer 2: Identity-Based Authorization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Determines WHO can access AI services  |  Microsoft Entra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6634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029200"/>
            <a:ext cx="8534095" cy="1188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5120640"/>
            <a:ext cx="816833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Layer 3: Prompt-Level Defenses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Controls WHAT users can do once inside  |  Amazon Bedrock Guardrails &amp; 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Layer 1: Organizational AI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5029200"/>
          </a:xfrm>
          <a:prstGeom prst="roundRect">
            <a:avLst/>
          </a:prstGeom>
          <a:solidFill>
            <a:srgbClr val="1E3A5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NIST AI Risk Management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Govern - Establish AI governance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Map - Define what systems do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Measure - Assess performance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Manage - Handle problems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Flexible approach based on risk tolerance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94960" cy="5029200"/>
          </a:xfrm>
          <a:prstGeom prst="roundRect">
            <a:avLst/>
          </a:prstGeom>
          <a:solidFill>
            <a:srgbClr val="1E3A5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OECD AI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Inclusive growth &amp; well-being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Human rights &amp; democratic values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Transparency &amp; explainability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Robustness, safety &amp; security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Accountability for AI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Layer 1: Cultural &amp; Legal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5029200"/>
          </a:xfrm>
          <a:prstGeom prst="roundRect">
            <a:avLst/>
          </a:prstGeom>
          <a:solidFill>
            <a:srgbClr val="1E3A5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Cultural Differences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Individualist cultures (US): Personal responsibility accepted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Collectivist cultures (Japan): Consensus-based decisions expected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Single company-wide strategy may conflict with local norms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Policy must adapt to regional expectations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94960" cy="5029200"/>
          </a:xfrm>
          <a:prstGeom prst="roundRect">
            <a:avLst/>
          </a:prstGeom>
          <a:solidFill>
            <a:srgbClr val="1E3A5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Legal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GDPR (EU): Strict personal data handling limits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Direct impact on what can be input to AI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Where data can be stored/processed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Policy allowed at HQ may be prohibited abroad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Layer 2: Identity-Based Authorization (Microsoft Entra 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2468880"/>
          </a:xfrm>
          <a:prstGeom prst="roundRect">
            <a:avLst/>
          </a:prstGeom>
          <a:solidFill>
            <a:srgbClr val="2D234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1. Adaptive Risk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ML algorithms analyze authentication signals to identify anomalous sign-ins, assign risk levels, and initiate automated remediation for humans AND AI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94960" cy="2468880"/>
          </a:xfrm>
          <a:prstGeom prst="roundRect">
            <a:avLst/>
          </a:prstGeom>
          <a:solidFill>
            <a:srgbClr val="2D234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39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2. Strong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3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Phishing-resistant credentials (Windows Hello, FIDO2 keys) required for accessing sensitive data or generative AI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394960" cy="2468880"/>
          </a:xfrm>
          <a:prstGeom prst="roundRect">
            <a:avLst/>
          </a:prstGeom>
          <a:solidFill>
            <a:srgbClr val="2D234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3. Automatic Remediation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When anomalous behavior detected: MFA challenge, password reset, or block sign-in - without human intervention.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2468880"/>
          </a:xfrm>
          <a:prstGeom prst="roundRect">
            <a:avLst/>
          </a:prstGeom>
          <a:solidFill>
            <a:srgbClr val="2D234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4. ITDR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Security Copilot enables natural-language queries for risky sign-ins. Organized reports for rapid security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Layer 2: Treating AI Agents as Principals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7295" cy="73152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Key Insight: Identity-based control works at the user level, not the network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"An ungoverned agent is just as dangerous as an ungoverned employee"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AI agents must fulfill same access criteria as human users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Access follows the user/agent, not the device or location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Fills gaps left by network-based blocking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Same Zero Trust principles apply to humans AND AI agents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Transforms organizational policy into automatic, enforced access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Layer 3: Prompt-Level Defenses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5029200"/>
          </a:xfrm>
          <a:prstGeom prst="roundRect">
            <a:avLst/>
          </a:prstGeom>
          <a:solidFill>
            <a:srgbClr val="1E3A5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Amazon Bedrock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Configurable protection for inputs AND outputs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Consistent controls across all foundation models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Content, topic, word, and PII filters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Bidirectional enforcement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Blocked prompts never reach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94960" cy="5029200"/>
          </a:xfrm>
          <a:prstGeom prst="roundRect">
            <a:avLst/>
          </a:prstGeom>
          <a:solidFill>
            <a:srgbClr val="1E3A5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Amazon Bedrock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Design multi-step AI workflows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Constraints at each stage, not just the start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Guardrails on individual nodes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Condition nodes for branching logic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Consistent policy across entire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Layer 3: Amazon Bedrock Guardrails - Filter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2286000"/>
          </a:xfrm>
          <a:prstGeom prst="roundRect">
            <a:avLst/>
          </a:prstGeom>
          <a:solidFill>
            <a:srgbClr val="0A32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Content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Hate, insults, sexual content, violence, misconduct, prompt attacks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2286000"/>
          </a:xfrm>
          <a:prstGeom prst="roundRect">
            <a:avLst/>
          </a:prstGeom>
          <a:solidFill>
            <a:srgbClr val="0A32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41731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Denied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451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Block topics inappropriate for the application (e.g., illegal advice)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566160" cy="2286000"/>
          </a:xfrm>
          <a:prstGeom prst="roundRect">
            <a:avLst/>
          </a:prstGeom>
          <a:solidFill>
            <a:srgbClr val="0A32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41731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Word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1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Profanity, competitor names, custom blocked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3566160" cy="2286000"/>
          </a:xfrm>
          <a:prstGeom prst="roundRect">
            <a:avLst/>
          </a:prstGeom>
          <a:solidFill>
            <a:srgbClr val="0A32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PII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Block/mask SSN, DOB, addresses using regex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39"/>
            <a:ext cx="3566160" cy="2286000"/>
          </a:xfrm>
          <a:prstGeom prst="roundRect">
            <a:avLst/>
          </a:prstGeom>
          <a:solidFill>
            <a:srgbClr val="0A32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3886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Contextual Grounding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43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Flag responses that are factually ungrounded or irrelevant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749039"/>
            <a:ext cx="3566160" cy="2286000"/>
          </a:xfrm>
          <a:prstGeom prst="roundRect">
            <a:avLst/>
          </a:prstGeom>
          <a:solidFill>
            <a:srgbClr val="0A32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886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Automated 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343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Validate against logical rules to detect hallucinations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How the Three Layers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Policy → Establishes the rules for AI usage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Identity → Determines WHO may act on those rules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Prompt-Level → Controls WHAT they can do once inside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Each layer compensates for the others: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  • Policy without enforcement = wishful thinking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  • Identity without content control = authorized misuse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  • Prompt filtering without identity = anonymous access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Result: Declared policy becomes enforceable technical controls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Limitations &amp;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1188720"/>
          </a:xfrm>
          <a:prstGeom prst="roundRect">
            <a:avLst/>
          </a:prstGeom>
          <a:solidFill>
            <a:srgbClr val="321E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1. Shadow AI Persists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Employees can use AI from personal devices, mobile networks, or home connections. Controls raise effort to evade, but don't make it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1188720"/>
          </a:xfrm>
          <a:prstGeom prst="roundRect">
            <a:avLst/>
          </a:prstGeom>
          <a:solidFill>
            <a:srgbClr val="321E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731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2. Platform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Bedrock's controls only protect AI services routed through the platform. Cannot check prompts sent to external consumer AI products.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77295" cy="1188720"/>
          </a:xfrm>
          <a:prstGeom prst="roundRect">
            <a:avLst/>
          </a:prstGeom>
          <a:solidFill>
            <a:srgbClr val="321E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731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3. Probabilistic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Content filtering reduces likelihood of harm but cannot guarantee every malicious attempt is recognized. Security vs. usability trade-off exists.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11277295" cy="1188720"/>
          </a:xfrm>
          <a:prstGeom prst="roundRect">
            <a:avLst/>
          </a:prstGeom>
          <a:solidFill>
            <a:srgbClr val="321E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731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4. Vendor-Specific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Organizations using other identity providers or cloud platforms need to adapt approaches to equivalent tools.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No single control is sufficient - defense in depth is essential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Policy + Identity + Prompt-level = comprehensive AI governance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Treat AI agents as principals with same access controls as humans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Leverage established frameworks (NIST, OECD) as foundation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Consider cultural and legal differences for global deployment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  Goal: Enable productivity while managing risk, not prohibition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2286000"/>
          </a:xfrm>
          <a:prstGeom prst="roundRect">
            <a:avLst/>
          </a:prstGeom>
          <a:solidFill>
            <a:srgbClr val="1E2D4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The rapid use of AI in the workplace has outpaced security measures.</a:t>
            </a:r>
          </a:p>
          <a:p>
            <a:endParaRPr/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A three-layer defense-in-depth model enables security teams to effectively manage corporate AI use while preserving the productivity benefits that make AI technologies desirable.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47472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Policy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Establishes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474720" cy="2286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43891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Identity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Determines Who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474720" cy="2286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43891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Prompt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Controls What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0A5F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Yuto Sugihara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Security Engineer at F-TECH 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1004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杉原 優斗 (Sugihara Yuto)</cp:lastModifiedBy>
  <cp:revision>1</cp:revision>
  <dcterms:created xsi:type="dcterms:W3CDTF">2013-01-27T09:14:16Z</dcterms:created>
  <dcterms:modified xsi:type="dcterms:W3CDTF">2026-07-14T01:59:50Z</dcterms:modified>
  <cp:category/>
</cp:coreProperties>
</file>